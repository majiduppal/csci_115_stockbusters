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Sora SemiBold"/>
      <p:regular r:id="rId15"/>
      <p:bold r:id="rId16"/>
    </p:embeddedFont>
    <p:embeddedFont>
      <p:font typeface="IBM Plex Sans Medium"/>
      <p:regular r:id="rId17"/>
      <p:bold r:id="rId18"/>
      <p:italic r:id="rId19"/>
      <p:boldItalic r:id="rId20"/>
    </p:embeddedFont>
    <p:embeddedFont>
      <p:font typeface="Sora Light"/>
      <p:regular r:id="rId21"/>
      <p:bold r:id="rId22"/>
    </p:embeddedFont>
    <p:embeddedFont>
      <p:font typeface="Sora"/>
      <p:regular r:id="rId23"/>
      <p:bold r:id="rId24"/>
    </p:embeddedFont>
    <p:embeddedFont>
      <p:font typeface="Sora Medium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Medium-boldItalic.fntdata"/><Relationship Id="rId22" Type="http://schemas.openxmlformats.org/officeDocument/2006/relationships/font" Target="fonts/SoraLight-bold.fntdata"/><Relationship Id="rId21" Type="http://schemas.openxmlformats.org/officeDocument/2006/relationships/font" Target="fonts/SoraLight-regular.fntdata"/><Relationship Id="rId24" Type="http://schemas.openxmlformats.org/officeDocument/2006/relationships/font" Target="fonts/Sora-bold.fntdata"/><Relationship Id="rId23" Type="http://schemas.openxmlformats.org/officeDocument/2006/relationships/font" Target="fonts/Sor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raMedium-bold.fntdata"/><Relationship Id="rId25" Type="http://schemas.openxmlformats.org/officeDocument/2006/relationships/font" Target="fonts/Sora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Sora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BMPlexSansMedium-regular.fntdata"/><Relationship Id="rId16" Type="http://schemas.openxmlformats.org/officeDocument/2006/relationships/font" Target="fonts/SoraSemiBold-bold.fntdata"/><Relationship Id="rId19" Type="http://schemas.openxmlformats.org/officeDocument/2006/relationships/font" Target="fonts/IBMPlexSansMedium-italic.fntdata"/><Relationship Id="rId18" Type="http://schemas.openxmlformats.org/officeDocument/2006/relationships/font" Target="fonts/IBMPlex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ebf141e0f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aebf141e0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605d4129b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605d4129b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605d4129b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605d4129b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ebf141e0f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aebf141e0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ebf141e0f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aebf141e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ebf141e0f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aebf141e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 - Red 1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5450650"/>
            <a:ext cx="12192000" cy="1407300"/>
          </a:xfrm>
          <a:prstGeom prst="rect">
            <a:avLst/>
          </a:prstGeom>
          <a:solidFill>
            <a:srgbClr val="7F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 txBox="1"/>
          <p:nvPr>
            <p:ph type="title"/>
          </p:nvPr>
        </p:nvSpPr>
        <p:spPr>
          <a:xfrm>
            <a:off x="366600" y="5633275"/>
            <a:ext cx="11529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/>
          <p:nvPr/>
        </p:nvSpPr>
        <p:spPr>
          <a:xfrm>
            <a:off x="0" y="2"/>
            <a:ext cx="12192000" cy="97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82800" y="6217075"/>
            <a:ext cx="115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32843" l="-259" r="319" t="154"/>
          <a:stretch/>
        </p:blipFill>
        <p:spPr>
          <a:xfrm>
            <a:off x="-38500" y="987225"/>
            <a:ext cx="12230499" cy="446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 - Red 2">
  <p:cSld name="Title Slid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5450650"/>
            <a:ext cx="12192000" cy="1407300"/>
          </a:xfrm>
          <a:prstGeom prst="rect">
            <a:avLst/>
          </a:prstGeom>
          <a:solidFill>
            <a:srgbClr val="7F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366600" y="5633275"/>
            <a:ext cx="11529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0" y="2"/>
            <a:ext cx="12192000" cy="97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82800" y="6217075"/>
            <a:ext cx="115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45259" l="0" r="0" t="0"/>
          <a:stretch/>
        </p:blipFill>
        <p:spPr>
          <a:xfrm>
            <a:off x="-38500" y="987225"/>
            <a:ext cx="12230501" cy="446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No Image 2 - Gold">
  <p:cSld name="Divider Slide Gold 2 - No Imag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962" y="5041121"/>
            <a:ext cx="12192000" cy="1216800"/>
          </a:xfrm>
          <a:prstGeom prst="rect">
            <a:avLst/>
          </a:prstGeom>
          <a:solidFill>
            <a:srgbClr val="BA841F">
              <a:alpha val="7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2588575" y="5414775"/>
            <a:ext cx="7011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 - Gold 1">
  <p:cSld name="Title Gold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5450650"/>
            <a:ext cx="12192000" cy="1407300"/>
          </a:xfrm>
          <a:prstGeom prst="rect">
            <a:avLst/>
          </a:prstGeom>
          <a:solidFill>
            <a:srgbClr val="BA84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366600" y="5633275"/>
            <a:ext cx="11529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2"/>
            <a:ext cx="12192000" cy="97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82800" y="6217075"/>
            <a:ext cx="115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12332" l="0" r="0" t="32926"/>
          <a:stretch/>
        </p:blipFill>
        <p:spPr>
          <a:xfrm>
            <a:off x="-38500" y="987225"/>
            <a:ext cx="12230501" cy="446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 - Gold 2">
  <p:cSld name="Title Gold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5450650"/>
            <a:ext cx="12192000" cy="1407300"/>
          </a:xfrm>
          <a:prstGeom prst="rect">
            <a:avLst/>
          </a:prstGeom>
          <a:solidFill>
            <a:srgbClr val="BA84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 txBox="1"/>
          <p:nvPr>
            <p:ph type="title"/>
          </p:nvPr>
        </p:nvSpPr>
        <p:spPr>
          <a:xfrm>
            <a:off x="366600" y="5633275"/>
            <a:ext cx="11529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"/>
          <p:cNvSpPr/>
          <p:nvPr/>
        </p:nvSpPr>
        <p:spPr>
          <a:xfrm>
            <a:off x="0" y="2"/>
            <a:ext cx="12192000" cy="97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82800" y="6217075"/>
            <a:ext cx="115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37359" l="0" r="0" t="7899"/>
          <a:stretch/>
        </p:blipFill>
        <p:spPr>
          <a:xfrm>
            <a:off x="-38500" y="987225"/>
            <a:ext cx="12230501" cy="446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No Image - Red">
  <p:cSld name="Title Red No Imag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566251"/>
            <a:ext cx="12192000" cy="4884300"/>
          </a:xfrm>
          <a:prstGeom prst="rect">
            <a:avLst/>
          </a:prstGeom>
          <a:solidFill>
            <a:srgbClr val="DFE0E1">
              <a:alpha val="7333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0" y="5450650"/>
            <a:ext cx="12192000" cy="1407300"/>
          </a:xfrm>
          <a:prstGeom prst="rect">
            <a:avLst/>
          </a:prstGeom>
          <a:solidFill>
            <a:srgbClr val="7F14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366600" y="5633275"/>
            <a:ext cx="11529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7"/>
          <p:cNvSpPr/>
          <p:nvPr/>
        </p:nvSpPr>
        <p:spPr>
          <a:xfrm>
            <a:off x="0" y="2"/>
            <a:ext cx="12192000" cy="97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382800" y="6217075"/>
            <a:ext cx="115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No Image - Gold">
  <p:cSld name="Title Gold No Imag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0" y="566251"/>
            <a:ext cx="12192000" cy="4884300"/>
          </a:xfrm>
          <a:prstGeom prst="rect">
            <a:avLst/>
          </a:prstGeom>
          <a:solidFill>
            <a:srgbClr val="DFE0E1">
              <a:alpha val="7333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/>
          <p:nvPr/>
        </p:nvSpPr>
        <p:spPr>
          <a:xfrm>
            <a:off x="0" y="5450650"/>
            <a:ext cx="12192000" cy="1407300"/>
          </a:xfrm>
          <a:prstGeom prst="rect">
            <a:avLst/>
          </a:prstGeom>
          <a:solidFill>
            <a:srgbClr val="BA84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366600" y="5633275"/>
            <a:ext cx="115290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8"/>
          <p:cNvSpPr/>
          <p:nvPr/>
        </p:nvSpPr>
        <p:spPr>
          <a:xfrm>
            <a:off x="0" y="2"/>
            <a:ext cx="12192000" cy="9720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382800" y="6217075"/>
            <a:ext cx="115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- Gold">
  <p:cSld name="Table of Contents Gold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backgrounds 23.pdf"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/>
          <p:nvPr/>
        </p:nvSpPr>
        <p:spPr>
          <a:xfrm>
            <a:off x="366607" y="1243401"/>
            <a:ext cx="62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BA841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1" i="0" sz="2800" u="none" cap="none" strike="noStrike">
              <a:solidFill>
                <a:srgbClr val="BA84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 txBox="1"/>
          <p:nvPr/>
        </p:nvSpPr>
        <p:spPr>
          <a:xfrm>
            <a:off x="457950" y="1965800"/>
            <a:ext cx="11337000" cy="4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501225" y="1848079"/>
            <a:ext cx="11283600" cy="44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1" i="0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- Red">
  <p:cSld name="Table of Contents Red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backgrounds 21.pdf" id="58" name="Google Shape;5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>
            <a:off x="366607" y="1243401"/>
            <a:ext cx="62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F1426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1" i="0" sz="2800" u="none" cap="none" strike="noStrike">
              <a:solidFill>
                <a:srgbClr val="7F14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01225" y="1848079"/>
            <a:ext cx="11283600" cy="44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7F1426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7F14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00" y="218425"/>
            <a:ext cx="3531750" cy="6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 1 - Red">
  <p:cSld name="Divider Slide Red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 rotWithShape="1">
          <a:blip r:embed="rId2">
            <a:alphaModFix/>
          </a:blip>
          <a:srcRect b="5217" l="0" r="596" t="10191"/>
          <a:stretch/>
        </p:blipFill>
        <p:spPr>
          <a:xfrm>
            <a:off x="0" y="-29250"/>
            <a:ext cx="12192001" cy="6916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/>
          <p:nvPr/>
        </p:nvSpPr>
        <p:spPr>
          <a:xfrm>
            <a:off x="-73100" y="-29250"/>
            <a:ext cx="6249600" cy="6916500"/>
          </a:xfrm>
          <a:prstGeom prst="rect">
            <a:avLst/>
          </a:prstGeom>
          <a:solidFill>
            <a:srgbClr val="800000">
              <a:alpha val="8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450050" y="2956525"/>
            <a:ext cx="5287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 1 - Gold">
  <p:cSld name="Divider Slide Gold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 b="14907" l="0" r="0" t="0"/>
          <a:stretch/>
        </p:blipFill>
        <p:spPr>
          <a:xfrm>
            <a:off x="0" y="-29250"/>
            <a:ext cx="12192003" cy="69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/>
          <p:nvPr/>
        </p:nvSpPr>
        <p:spPr>
          <a:xfrm>
            <a:off x="-73100" y="-29250"/>
            <a:ext cx="6249600" cy="6916500"/>
          </a:xfrm>
          <a:prstGeom prst="rect">
            <a:avLst/>
          </a:prstGeom>
          <a:solidFill>
            <a:srgbClr val="BA841F">
              <a:alpha val="7764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450050" y="2956525"/>
            <a:ext cx="5287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No Image 1 - Gold">
  <p:cSld name="Divider Slide Gold - No Imag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-73100" y="-29250"/>
            <a:ext cx="6249600" cy="691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450050" y="2956525"/>
            <a:ext cx="5287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No Image 1 - Red">
  <p:cSld name="Divider Slide Red - No Imag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-73100" y="-29250"/>
            <a:ext cx="6249600" cy="691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450050" y="2956525"/>
            <a:ext cx="5287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 2 - Gold">
  <p:cSld name="Divider Slide Gold 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2">
            <a:alphaModFix/>
          </a:blip>
          <a:srcRect b="7813" l="0" r="0" t="7812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>
            <a:off x="-962" y="5041121"/>
            <a:ext cx="12192000" cy="1216800"/>
          </a:xfrm>
          <a:prstGeom prst="rect">
            <a:avLst/>
          </a:prstGeom>
          <a:solidFill>
            <a:srgbClr val="BA841F">
              <a:alpha val="7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2588575" y="5414775"/>
            <a:ext cx="7011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 2 - Red">
  <p:cSld name="Divider Slide Red 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2">
            <a:alphaModFix/>
          </a:blip>
          <a:srcRect b="7813" l="0" r="0" t="7812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-2" y="4475747"/>
            <a:ext cx="12192000" cy="2082217"/>
          </a:xfrm>
          <a:prstGeom prst="rect">
            <a:avLst/>
          </a:prstGeom>
          <a:solidFill>
            <a:srgbClr val="7F1426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588575" y="5414775"/>
            <a:ext cx="7011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No Image 2 - Red">
  <p:cSld name="Divider Slide Red 2 - No Imag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-962" y="5041121"/>
            <a:ext cx="12192000" cy="1216800"/>
          </a:xfrm>
          <a:prstGeom prst="rect">
            <a:avLst/>
          </a:prstGeom>
          <a:solidFill>
            <a:srgbClr val="7F1426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2588575" y="5414775"/>
            <a:ext cx="7011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">
  <p:cSld name="Content Slide Red 3 Image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17800" y="1242750"/>
            <a:ext cx="111528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Gold">
  <p:cSld name="Content Slide Gold 3 Image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417800" y="1242750"/>
            <a:ext cx="111528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Red">
  <p:cSld name="Content Red 3 Images stacked lef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0" name="Google Shape;10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Gold">
  <p:cSld name="Content Gold 3 Images Stacked Lef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4" name="Google Shape;10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Right - Red">
  <p:cSld name="Content Red 3 Images Horizontal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 txBox="1"/>
          <p:nvPr>
            <p:ph type="title"/>
          </p:nvPr>
        </p:nvSpPr>
        <p:spPr>
          <a:xfrm>
            <a:off x="6020975" y="503550"/>
            <a:ext cx="534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6020975" y="1146450"/>
            <a:ext cx="5399700" cy="4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9" name="Google Shape;10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Right - Gold">
  <p:cSld name="Content Gold 3 Images Horizontal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6020975" y="503550"/>
            <a:ext cx="53460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6020975" y="1146450"/>
            <a:ext cx="5399700" cy="4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lumns - Red">
  <p:cSld name="Content slide Red 3 Images Righ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4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417800" y="1585600"/>
            <a:ext cx="53997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2" type="body"/>
          </p:nvPr>
        </p:nvSpPr>
        <p:spPr>
          <a:xfrm>
            <a:off x="6020975" y="1585600"/>
            <a:ext cx="53997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4"/>
          <p:cNvSpPr txBox="1"/>
          <p:nvPr>
            <p:ph idx="3" type="subTitle"/>
          </p:nvPr>
        </p:nvSpPr>
        <p:spPr>
          <a:xfrm>
            <a:off x="417800" y="1146450"/>
            <a:ext cx="5399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4" type="subTitle"/>
          </p:nvPr>
        </p:nvSpPr>
        <p:spPr>
          <a:xfrm>
            <a:off x="6020975" y="1146450"/>
            <a:ext cx="5399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lumns - Gold">
  <p:cSld name="Content Slide Gold 3 Images Righ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417800" y="1585600"/>
            <a:ext cx="53997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2" type="body"/>
          </p:nvPr>
        </p:nvSpPr>
        <p:spPr>
          <a:xfrm>
            <a:off x="6020975" y="1585600"/>
            <a:ext cx="53997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3" type="subTitle"/>
          </p:nvPr>
        </p:nvSpPr>
        <p:spPr>
          <a:xfrm>
            <a:off x="417800" y="1146450"/>
            <a:ext cx="5399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4" type="subTitle"/>
          </p:nvPr>
        </p:nvSpPr>
        <p:spPr>
          <a:xfrm>
            <a:off x="6020975" y="1146450"/>
            <a:ext cx="5399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0" name="Google Shape;13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Right - Red Block">
  <p:cSld name="Content Red 3 Images Horizontal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5942400" y="-29250"/>
            <a:ext cx="6324600" cy="6916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 txBox="1"/>
          <p:nvPr>
            <p:ph type="title"/>
          </p:nvPr>
        </p:nvSpPr>
        <p:spPr>
          <a:xfrm>
            <a:off x="6433300" y="1339200"/>
            <a:ext cx="536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6433300" y="2078400"/>
            <a:ext cx="53163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Right - Gold Block">
  <p:cSld name="Content Red 3 Images Horizontal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5942400" y="-29250"/>
            <a:ext cx="6324600" cy="691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 txBox="1"/>
          <p:nvPr>
            <p:ph type="title"/>
          </p:nvPr>
        </p:nvSpPr>
        <p:spPr>
          <a:xfrm>
            <a:off x="6433300" y="1339200"/>
            <a:ext cx="536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6433300" y="2078400"/>
            <a:ext cx="53163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hasize Point - Gold">
  <p:cSld name="Content Red 3 Images Horizontal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/>
          <p:nvPr/>
        </p:nvSpPr>
        <p:spPr>
          <a:xfrm>
            <a:off x="-76200" y="-29250"/>
            <a:ext cx="6324600" cy="6916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 txBox="1"/>
          <p:nvPr>
            <p:ph type="title"/>
          </p:nvPr>
        </p:nvSpPr>
        <p:spPr>
          <a:xfrm>
            <a:off x="6631150" y="1339200"/>
            <a:ext cx="536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6631150" y="2078400"/>
            <a:ext cx="53163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28"/>
          <p:cNvSpPr txBox="1"/>
          <p:nvPr>
            <p:ph idx="2" type="subTitle"/>
          </p:nvPr>
        </p:nvSpPr>
        <p:spPr>
          <a:xfrm>
            <a:off x="535675" y="557350"/>
            <a:ext cx="504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6" name="Google Shape;14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9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hasize Point - Red">
  <p:cSld name="Content Red 3 Images Horizontal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-76200" y="-29250"/>
            <a:ext cx="6324600" cy="691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6631150" y="1339200"/>
            <a:ext cx="536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6631150" y="2078400"/>
            <a:ext cx="5316300" cy="4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2" type="subTitle"/>
          </p:nvPr>
        </p:nvSpPr>
        <p:spPr>
          <a:xfrm>
            <a:off x="535675" y="557350"/>
            <a:ext cx="504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2" name="Google Shape;15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9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Blank - Red">
  <p:cSld name="Content Slide Red with Imag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36600" y="6293700"/>
            <a:ext cx="12265200" cy="5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Blank - Gold">
  <p:cSld name="Content Slide Gold with Imag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-14625" y="6293600"/>
            <a:ext cx="12265200" cy="56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88246" y="6405625"/>
            <a:ext cx="2122642" cy="3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/>
          <p:nvPr/>
        </p:nvSpPr>
        <p:spPr>
          <a:xfrm rot="-737271">
            <a:off x="6758625" y="-129215"/>
            <a:ext cx="4495284" cy="1515218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1" name="Google Shape;161;p32"/>
          <p:cNvSpPr txBox="1"/>
          <p:nvPr>
            <p:ph type="title"/>
          </p:nvPr>
        </p:nvSpPr>
        <p:spPr>
          <a:xfrm>
            <a:off x="179400" y="2032300"/>
            <a:ext cx="1492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2" name="Google Shape;162;p32"/>
          <p:cNvSpPr txBox="1"/>
          <p:nvPr>
            <p:ph idx="2" type="title"/>
          </p:nvPr>
        </p:nvSpPr>
        <p:spPr>
          <a:xfrm>
            <a:off x="179400" y="3474933"/>
            <a:ext cx="1492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3" name="Google Shape;163;p32"/>
          <p:cNvSpPr txBox="1"/>
          <p:nvPr>
            <p:ph idx="3" type="title"/>
          </p:nvPr>
        </p:nvSpPr>
        <p:spPr>
          <a:xfrm>
            <a:off x="179400" y="4879667"/>
            <a:ext cx="1492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IBM Plex Sans Medium"/>
              <a:buNone/>
              <a:defRPr sz="13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4" name="Google Shape;164;p32"/>
          <p:cNvSpPr txBox="1"/>
          <p:nvPr>
            <p:ph idx="4" type="title"/>
          </p:nvPr>
        </p:nvSpPr>
        <p:spPr>
          <a:xfrm>
            <a:off x="50800" y="426200"/>
            <a:ext cx="4155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243825" spcFirstLastPara="1" rIns="121900" wrap="square" tIns="12190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32"/>
          <p:cNvSpPr txBox="1"/>
          <p:nvPr>
            <p:ph idx="5" type="title"/>
          </p:nvPr>
        </p:nvSpPr>
        <p:spPr>
          <a:xfrm>
            <a:off x="1768200" y="1311600"/>
            <a:ext cx="3062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6" name="Google Shape;166;p32"/>
          <p:cNvSpPr txBox="1"/>
          <p:nvPr>
            <p:ph idx="6" type="title"/>
          </p:nvPr>
        </p:nvSpPr>
        <p:spPr>
          <a:xfrm>
            <a:off x="5078567" y="1311600"/>
            <a:ext cx="3062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7" name="Google Shape;167;p32"/>
          <p:cNvSpPr txBox="1"/>
          <p:nvPr>
            <p:ph idx="7" type="title"/>
          </p:nvPr>
        </p:nvSpPr>
        <p:spPr>
          <a:xfrm>
            <a:off x="8388933" y="1311600"/>
            <a:ext cx="3062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" name="Google Shape;168;p32"/>
          <p:cNvSpPr/>
          <p:nvPr/>
        </p:nvSpPr>
        <p:spPr>
          <a:xfrm flipH="1" rot="-6103989">
            <a:off x="5765347" y="3961121"/>
            <a:ext cx="2055039" cy="6309838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32"/>
          <p:cNvSpPr/>
          <p:nvPr/>
        </p:nvSpPr>
        <p:spPr>
          <a:xfrm rot="5740004">
            <a:off x="5654033" y="3747938"/>
            <a:ext cx="1911039" cy="7320779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32"/>
          <p:cNvSpPr txBox="1"/>
          <p:nvPr>
            <p:ph idx="8" type="title"/>
          </p:nvPr>
        </p:nvSpPr>
        <p:spPr>
          <a:xfrm>
            <a:off x="50800" y="124200"/>
            <a:ext cx="2111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243825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1768033" y="4820067"/>
            <a:ext cx="3062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32"/>
          <p:cNvSpPr txBox="1"/>
          <p:nvPr>
            <p:ph idx="9" type="body"/>
          </p:nvPr>
        </p:nvSpPr>
        <p:spPr>
          <a:xfrm>
            <a:off x="5078483" y="4820067"/>
            <a:ext cx="3062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➔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32"/>
          <p:cNvSpPr txBox="1"/>
          <p:nvPr>
            <p:ph idx="13" type="body"/>
          </p:nvPr>
        </p:nvSpPr>
        <p:spPr>
          <a:xfrm>
            <a:off x="8388950" y="4820067"/>
            <a:ext cx="3062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➔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32"/>
          <p:cNvSpPr txBox="1"/>
          <p:nvPr>
            <p:ph idx="14" type="body"/>
          </p:nvPr>
        </p:nvSpPr>
        <p:spPr>
          <a:xfrm>
            <a:off x="1768033" y="3474933"/>
            <a:ext cx="3062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15" type="body"/>
          </p:nvPr>
        </p:nvSpPr>
        <p:spPr>
          <a:xfrm>
            <a:off x="5078483" y="3474933"/>
            <a:ext cx="3062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16" type="body"/>
          </p:nvPr>
        </p:nvSpPr>
        <p:spPr>
          <a:xfrm>
            <a:off x="8388950" y="3474933"/>
            <a:ext cx="30621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■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17" type="body"/>
          </p:nvPr>
        </p:nvSpPr>
        <p:spPr>
          <a:xfrm>
            <a:off x="1768033" y="2032300"/>
            <a:ext cx="30621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Sora"/>
              <a:buChar char="➔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18" type="body"/>
          </p:nvPr>
        </p:nvSpPr>
        <p:spPr>
          <a:xfrm>
            <a:off x="5078489" y="2032300"/>
            <a:ext cx="30621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Sora"/>
              <a:buChar char="➔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32"/>
          <p:cNvSpPr txBox="1"/>
          <p:nvPr>
            <p:ph idx="19" type="body"/>
          </p:nvPr>
        </p:nvSpPr>
        <p:spPr>
          <a:xfrm>
            <a:off x="8388961" y="2032300"/>
            <a:ext cx="30621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Sora"/>
              <a:buChar char="➔"/>
              <a:defRPr sz="1300">
                <a:solidFill>
                  <a:schemeClr val="dk1"/>
                </a:solidFill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○"/>
              <a:defRPr sz="1300">
                <a:solidFill>
                  <a:schemeClr val="dk1"/>
                </a:solidFill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◆"/>
              <a:defRPr sz="1300">
                <a:solidFill>
                  <a:schemeClr val="dk1"/>
                </a:solidFill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Char char="●"/>
              <a:defRPr sz="1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" name="Google Shape;180;p32"/>
          <p:cNvSpPr txBox="1"/>
          <p:nvPr>
            <p:ph idx="20" type="title"/>
          </p:nvPr>
        </p:nvSpPr>
        <p:spPr>
          <a:xfrm>
            <a:off x="304800" y="6366571"/>
            <a:ext cx="2585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/>
          <p:nvPr/>
        </p:nvSpPr>
        <p:spPr>
          <a:xfrm flipH="1" rot="-5400000">
            <a:off x="1684315" y="3608719"/>
            <a:ext cx="1565127" cy="4933756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3" name="Google Shape;183;p33"/>
          <p:cNvSpPr/>
          <p:nvPr/>
        </p:nvSpPr>
        <p:spPr>
          <a:xfrm flipH="1">
            <a:off x="304899" y="4828415"/>
            <a:ext cx="4712014" cy="2029548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4" name="Google Shape;184;p33"/>
          <p:cNvSpPr/>
          <p:nvPr/>
        </p:nvSpPr>
        <p:spPr>
          <a:xfrm flipH="1">
            <a:off x="312933" y="2180733"/>
            <a:ext cx="442800" cy="252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85" name="Google Shape;185;p33"/>
          <p:cNvGrpSpPr/>
          <p:nvPr/>
        </p:nvGrpSpPr>
        <p:grpSpPr>
          <a:xfrm flipH="1">
            <a:off x="9724077" y="-129"/>
            <a:ext cx="2467938" cy="1633726"/>
            <a:chOff x="461225" y="3875100"/>
            <a:chExt cx="1851000" cy="1225325"/>
          </a:xfrm>
        </p:grpSpPr>
        <p:grpSp>
          <p:nvGrpSpPr>
            <p:cNvPr id="186" name="Google Shape;186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87" name="Google Shape;187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8" name="Google Shape;188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9" name="Google Shape;189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2" name="Google Shape;192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93" name="Google Shape;193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4" name="Google Shape;194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7" name="Google Shape;197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98" name="Google Shape;198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02" name="Google Shape;202;p33"/>
          <p:cNvSpPr txBox="1"/>
          <p:nvPr>
            <p:ph type="title"/>
          </p:nvPr>
        </p:nvSpPr>
        <p:spPr>
          <a:xfrm>
            <a:off x="5096600" y="1717167"/>
            <a:ext cx="57273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 Medium"/>
              <a:buNone/>
              <a:defRPr sz="16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3" name="Google Shape;203;p33"/>
          <p:cNvSpPr txBox="1"/>
          <p:nvPr>
            <p:ph idx="2" type="title"/>
          </p:nvPr>
        </p:nvSpPr>
        <p:spPr>
          <a:xfrm>
            <a:off x="114300" y="1717167"/>
            <a:ext cx="44631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 Medium"/>
              <a:buNone/>
              <a:defRPr sz="16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ra"/>
              <a:buNone/>
              <a:defRPr sz="16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4" name="Google Shape;204;p33"/>
          <p:cNvSpPr/>
          <p:nvPr>
            <p:ph idx="3" type="pic"/>
          </p:nvPr>
        </p:nvSpPr>
        <p:spPr>
          <a:xfrm>
            <a:off x="302967" y="2443167"/>
            <a:ext cx="1094700" cy="104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3"/>
          <p:cNvSpPr/>
          <p:nvPr>
            <p:ph idx="4" type="pic"/>
          </p:nvPr>
        </p:nvSpPr>
        <p:spPr>
          <a:xfrm>
            <a:off x="302967" y="3563233"/>
            <a:ext cx="1094700" cy="104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3"/>
          <p:cNvSpPr/>
          <p:nvPr>
            <p:ph idx="5" type="pic"/>
          </p:nvPr>
        </p:nvSpPr>
        <p:spPr>
          <a:xfrm>
            <a:off x="302967" y="4683300"/>
            <a:ext cx="1094700" cy="104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3"/>
          <p:cNvSpPr txBox="1"/>
          <p:nvPr>
            <p:ph idx="6" type="title"/>
          </p:nvPr>
        </p:nvSpPr>
        <p:spPr>
          <a:xfrm>
            <a:off x="1397767" y="2443167"/>
            <a:ext cx="275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243825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33"/>
          <p:cNvSpPr txBox="1"/>
          <p:nvPr>
            <p:ph idx="7" type="title"/>
          </p:nvPr>
        </p:nvSpPr>
        <p:spPr>
          <a:xfrm>
            <a:off x="1397767" y="3563233"/>
            <a:ext cx="275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243825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9" name="Google Shape;209;p33"/>
          <p:cNvSpPr txBox="1"/>
          <p:nvPr>
            <p:ph idx="8" type="title"/>
          </p:nvPr>
        </p:nvSpPr>
        <p:spPr>
          <a:xfrm>
            <a:off x="1397767" y="4683300"/>
            <a:ext cx="275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243825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Sora"/>
              <a:buNone/>
              <a:defRPr sz="13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9" type="title"/>
          </p:nvPr>
        </p:nvSpPr>
        <p:spPr>
          <a:xfrm>
            <a:off x="5094333" y="2282033"/>
            <a:ext cx="2400000" cy="20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0" spcFirstLastPara="1" rIns="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Medium"/>
              <a:buNone/>
              <a:defRPr sz="13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3" type="title"/>
          </p:nvPr>
        </p:nvSpPr>
        <p:spPr>
          <a:xfrm>
            <a:off x="9476767" y="2281933"/>
            <a:ext cx="1165500" cy="20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4" type="title"/>
          </p:nvPr>
        </p:nvSpPr>
        <p:spPr>
          <a:xfrm>
            <a:off x="7357767" y="2282100"/>
            <a:ext cx="1762800" cy="20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 Light"/>
              <a:buNone/>
              <a:defRPr sz="13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15" type="title"/>
          </p:nvPr>
        </p:nvSpPr>
        <p:spPr>
          <a:xfrm>
            <a:off x="50800" y="124200"/>
            <a:ext cx="2111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243825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6" type="title"/>
          </p:nvPr>
        </p:nvSpPr>
        <p:spPr>
          <a:xfrm>
            <a:off x="124509" y="670367"/>
            <a:ext cx="9570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" name="Google Shape;215;p33"/>
          <p:cNvSpPr txBox="1"/>
          <p:nvPr>
            <p:ph idx="17" type="title"/>
          </p:nvPr>
        </p:nvSpPr>
        <p:spPr>
          <a:xfrm>
            <a:off x="304800" y="6366571"/>
            <a:ext cx="2585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flag&#10;&#10;Description automatically generated with low confidence" id="220" name="Google Shape;22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374" y="427121"/>
            <a:ext cx="8763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4"/>
          <p:cNvSpPr txBox="1"/>
          <p:nvPr>
            <p:ph type="title"/>
          </p:nvPr>
        </p:nvSpPr>
        <p:spPr>
          <a:xfrm>
            <a:off x="406225" y="2458800"/>
            <a:ext cx="5597400" cy="2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1F2328"/>
                </a:solidFill>
                <a:highlight>
                  <a:srgbClr val="FFFFFF"/>
                </a:highlight>
              </a:rPr>
              <a:t>An Agentic System for Stock Recommendations</a:t>
            </a:r>
            <a:endParaRPr sz="31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AC-215/CSCI E-115 Falls 2025</a:t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Team : Stock Buster</a:t>
            </a:r>
            <a:endParaRPr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Members : Sirisom Pranivong, </a:t>
            </a:r>
            <a:r>
              <a:rPr lang="en-US" sz="1500"/>
              <a:t>Seraphim Eilken,</a:t>
            </a:r>
            <a:endParaRPr sz="15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Majid Uppal, </a:t>
            </a:r>
            <a:r>
              <a:rPr lang="en-US" sz="1500"/>
              <a:t>Mahmood Masqati</a:t>
            </a:r>
            <a:endParaRPr sz="15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sz="14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5554925" y="2020525"/>
            <a:ext cx="5871600" cy="3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  <a:highlight>
                  <a:srgbClr val="FFFFFF"/>
                </a:highlight>
              </a:rPr>
              <a:t>Problem Statement &amp; Proposed Solution</a:t>
            </a:r>
            <a:r>
              <a:rPr b="0" lang="en-US" sz="1500">
                <a:solidFill>
                  <a:schemeClr val="dk2"/>
                </a:solidFill>
                <a:highlight>
                  <a:srgbClr val="FFFFFF"/>
                </a:highlight>
              </a:rPr>
              <a:t> </a:t>
            </a:r>
            <a:endParaRPr b="0"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  <a:highlight>
                  <a:srgbClr val="FFFFFF"/>
                </a:highlight>
              </a:rPr>
              <a:t>Solution &amp; Technical Architecture</a:t>
            </a:r>
            <a:endParaRPr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  <a:highlight>
                  <a:srgbClr val="FFFFFF"/>
                </a:highlight>
              </a:rPr>
              <a:t>Quantamental Model Pipeline</a:t>
            </a:r>
            <a:endParaRPr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  <a:highlight>
                  <a:schemeClr val="lt1"/>
                </a:highlight>
              </a:rPr>
              <a:t>Live Demo of the Application</a:t>
            </a:r>
            <a:r>
              <a:rPr b="0" lang="en-US" sz="1500">
                <a:solidFill>
                  <a:schemeClr val="dk2"/>
                </a:solidFill>
                <a:highlight>
                  <a:schemeClr val="lt1"/>
                </a:highlight>
              </a:rPr>
              <a:t> </a:t>
            </a:r>
            <a:endParaRPr b="0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  <a:highlight>
                  <a:srgbClr val="FFFFFF"/>
                </a:highlight>
              </a:rPr>
              <a:t>Challenges Faced &amp; Solutions Implemented</a:t>
            </a:r>
            <a:r>
              <a:rPr b="0" lang="en-US" sz="1500">
                <a:solidFill>
                  <a:schemeClr val="dk2"/>
                </a:solidFill>
                <a:highlight>
                  <a:srgbClr val="FFFFFF"/>
                </a:highlight>
              </a:rPr>
              <a:t> </a:t>
            </a:r>
            <a:endParaRPr b="0" sz="15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125" y="2150700"/>
            <a:ext cx="4495400" cy="29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625675" y="91300"/>
            <a:ext cx="52317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highlight>
                  <a:srgbClr val="FFFFFF"/>
                </a:highlight>
              </a:rPr>
              <a:t>“The Challenge &amp; Our Solution”</a:t>
            </a:r>
            <a:endParaRPr sz="2900"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100" y="833650"/>
            <a:ext cx="5494281" cy="21949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5" name="Google Shape;23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313" y="3364175"/>
            <a:ext cx="5539825" cy="2102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6" name="Google Shape;23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7944" y="1542274"/>
            <a:ext cx="1504950" cy="182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7" name="Google Shape;23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63188" y="3516636"/>
            <a:ext cx="1514475" cy="1819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8" name="Google Shape;23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89513" y="3516625"/>
            <a:ext cx="1504950" cy="1838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9" name="Google Shape;239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84756" y="1561336"/>
            <a:ext cx="1514475" cy="179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0" name="Google Shape;240;p36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  <p:sp>
        <p:nvSpPr>
          <p:cNvPr id="241" name="Google Shape;241;p36"/>
          <p:cNvSpPr/>
          <p:nvPr/>
        </p:nvSpPr>
        <p:spPr>
          <a:xfrm>
            <a:off x="3605750" y="5748087"/>
            <a:ext cx="5494200" cy="474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26298" y="479726"/>
            <a:ext cx="5494275" cy="91699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/>
          <p:nvPr/>
        </p:nvSpPr>
        <p:spPr>
          <a:xfrm>
            <a:off x="2030051" y="2940300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Finance Data Pipeline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8" name="Google Shape;248;p37"/>
          <p:cNvSpPr/>
          <p:nvPr/>
        </p:nvSpPr>
        <p:spPr>
          <a:xfrm>
            <a:off x="2030078" y="1750021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User preference collection bot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9" name="Google Shape;249;p37"/>
          <p:cNvSpPr/>
          <p:nvPr/>
        </p:nvSpPr>
        <p:spPr>
          <a:xfrm>
            <a:off x="6243510" y="3596097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LLM with RAG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0" name="Google Shape;250;p37"/>
          <p:cNvSpPr/>
          <p:nvPr/>
        </p:nvSpPr>
        <p:spPr>
          <a:xfrm>
            <a:off x="6243884" y="1750021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Stock Recommender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1" name="Google Shape;251;p37"/>
          <p:cNvSpPr/>
          <p:nvPr/>
        </p:nvSpPr>
        <p:spPr>
          <a:xfrm>
            <a:off x="2032574" y="4263691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ML Models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9720684" y="1750031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Stocks Report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3" name="Google Shape;253;p37"/>
          <p:cNvSpPr/>
          <p:nvPr/>
        </p:nvSpPr>
        <p:spPr>
          <a:xfrm flipH="1" rot="5400000">
            <a:off x="1211333" y="1664933"/>
            <a:ext cx="398700" cy="813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54" name="Google Shape;254;p37"/>
          <p:cNvCxnSpPr>
            <a:stCxn id="251" idx="3"/>
            <a:endCxn id="249" idx="1"/>
          </p:cNvCxnSpPr>
          <p:nvPr/>
        </p:nvCxnSpPr>
        <p:spPr>
          <a:xfrm flipH="1" rot="10800000">
            <a:off x="4143674" y="4019191"/>
            <a:ext cx="2099700" cy="667500"/>
          </a:xfrm>
          <a:prstGeom prst="bentConnector3">
            <a:avLst>
              <a:gd fmla="val 50003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37"/>
          <p:cNvCxnSpPr>
            <a:stCxn id="249" idx="0"/>
            <a:endCxn id="250" idx="2"/>
          </p:cNvCxnSpPr>
          <p:nvPr/>
        </p:nvCxnSpPr>
        <p:spPr>
          <a:xfrm rot="-5400000">
            <a:off x="6799260" y="3095697"/>
            <a:ext cx="1000200" cy="600"/>
          </a:xfrm>
          <a:prstGeom prst="bentConnector3">
            <a:avLst>
              <a:gd fmla="val 50004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256" name="Google Shape;256;p37"/>
          <p:cNvCxnSpPr>
            <a:stCxn id="250" idx="3"/>
            <a:endCxn id="252" idx="1"/>
          </p:cNvCxnSpPr>
          <p:nvPr/>
        </p:nvCxnSpPr>
        <p:spPr>
          <a:xfrm>
            <a:off x="8354984" y="2173021"/>
            <a:ext cx="1365600" cy="6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" name="Google Shape;257;p37"/>
          <p:cNvCxnSpPr>
            <a:stCxn id="248" idx="3"/>
            <a:endCxn id="250" idx="1"/>
          </p:cNvCxnSpPr>
          <p:nvPr/>
        </p:nvCxnSpPr>
        <p:spPr>
          <a:xfrm>
            <a:off x="4141178" y="2173021"/>
            <a:ext cx="2102700" cy="6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a cartoon of a bear sitting at a table with a laptop and a cup of coffee (Provided by Tenor)" id="258" name="Google Shape;2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23" y="2476984"/>
            <a:ext cx="1027756" cy="1019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/>
          <p:nvPr/>
        </p:nvSpPr>
        <p:spPr>
          <a:xfrm>
            <a:off x="355838" y="3496491"/>
            <a:ext cx="102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User</a:t>
            </a:r>
            <a:endParaRPr sz="1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60" name="Google Shape;260;p37"/>
          <p:cNvCxnSpPr>
            <a:stCxn id="247" idx="2"/>
            <a:endCxn id="251" idx="0"/>
          </p:cNvCxnSpPr>
          <p:nvPr/>
        </p:nvCxnSpPr>
        <p:spPr>
          <a:xfrm flipH="1" rot="-5400000">
            <a:off x="2848151" y="4023750"/>
            <a:ext cx="477300" cy="2400"/>
          </a:xfrm>
          <a:prstGeom prst="bentConnector3">
            <a:avLst>
              <a:gd fmla="val 50020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1" name="Google Shape;261;p37"/>
          <p:cNvSpPr/>
          <p:nvPr/>
        </p:nvSpPr>
        <p:spPr>
          <a:xfrm>
            <a:off x="9720684" y="3173098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Stock Details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62" name="Google Shape;262;p37"/>
          <p:cNvCxnSpPr>
            <a:stCxn id="252" idx="2"/>
            <a:endCxn id="261" idx="0"/>
          </p:cNvCxnSpPr>
          <p:nvPr/>
        </p:nvCxnSpPr>
        <p:spPr>
          <a:xfrm>
            <a:off x="10776234" y="2596031"/>
            <a:ext cx="0" cy="577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263" name="Google Shape;263;p37"/>
          <p:cNvSpPr/>
          <p:nvPr/>
        </p:nvSpPr>
        <p:spPr>
          <a:xfrm>
            <a:off x="6243910" y="5109697"/>
            <a:ext cx="2111100" cy="846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Sora"/>
                <a:ea typeface="Sora"/>
                <a:cs typeface="Sora"/>
                <a:sym typeface="Sora"/>
              </a:rPr>
              <a:t>Finance RAG</a:t>
            </a:r>
            <a:endParaRPr sz="1300"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64" name="Google Shape;264;p37"/>
          <p:cNvCxnSpPr>
            <a:stCxn id="263" idx="0"/>
            <a:endCxn id="249" idx="2"/>
          </p:cNvCxnSpPr>
          <p:nvPr/>
        </p:nvCxnSpPr>
        <p:spPr>
          <a:xfrm rot="10800000">
            <a:off x="7299160" y="4442197"/>
            <a:ext cx="300" cy="6675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5" name="Google Shape;265;p37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Solution Architecture and Key Components</a:t>
            </a:r>
            <a:endParaRPr/>
          </a:p>
        </p:txBody>
      </p:sp>
      <p:sp>
        <p:nvSpPr>
          <p:cNvPr id="266" name="Google Shape;266;p37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/>
          <p:nvPr/>
        </p:nvSpPr>
        <p:spPr>
          <a:xfrm>
            <a:off x="734737" y="854013"/>
            <a:ext cx="9700200" cy="855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147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272" name="Google Shape;272;p38"/>
          <p:cNvSpPr/>
          <p:nvPr/>
        </p:nvSpPr>
        <p:spPr>
          <a:xfrm>
            <a:off x="734650" y="5255175"/>
            <a:ext cx="9700200" cy="748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273" name="Google Shape;273;p38"/>
          <p:cNvSpPr/>
          <p:nvPr/>
        </p:nvSpPr>
        <p:spPr>
          <a:xfrm>
            <a:off x="3023238" y="2182477"/>
            <a:ext cx="1488900" cy="855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274" name="Google Shape;274;p38"/>
          <p:cNvSpPr/>
          <p:nvPr/>
        </p:nvSpPr>
        <p:spPr>
          <a:xfrm>
            <a:off x="4767345" y="2182477"/>
            <a:ext cx="2298900" cy="1043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275" name="Google Shape;275;p38"/>
          <p:cNvSpPr/>
          <p:nvPr/>
        </p:nvSpPr>
        <p:spPr>
          <a:xfrm>
            <a:off x="4114287" y="3966013"/>
            <a:ext cx="2487600" cy="748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276" name="Google Shape;276;p38"/>
          <p:cNvSpPr/>
          <p:nvPr/>
        </p:nvSpPr>
        <p:spPr>
          <a:xfrm>
            <a:off x="8062898" y="2182477"/>
            <a:ext cx="1839600" cy="855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5">
              <a:solidFill>
                <a:srgbClr val="595959"/>
              </a:solidFill>
            </a:endParaRPr>
          </a:p>
        </p:txBody>
      </p:sp>
      <p:sp>
        <p:nvSpPr>
          <p:cNvPr id="277" name="Google Shape;277;p38"/>
          <p:cNvSpPr/>
          <p:nvPr/>
        </p:nvSpPr>
        <p:spPr>
          <a:xfrm>
            <a:off x="8067548" y="3794609"/>
            <a:ext cx="1839600" cy="855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pic>
        <p:nvPicPr>
          <p:cNvPr id="278" name="Google Shape;2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905" y="5337509"/>
            <a:ext cx="433646" cy="370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78" y="5337509"/>
            <a:ext cx="604022" cy="370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7182" y="5444504"/>
            <a:ext cx="604022" cy="370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6336" y="5406737"/>
            <a:ext cx="720541" cy="534842"/>
          </a:xfrm>
          <a:prstGeom prst="rect">
            <a:avLst/>
          </a:prstGeom>
          <a:solidFill>
            <a:srgbClr val="EEEEEE"/>
          </a:solidFill>
          <a:ln cap="flat" cmpd="sng" w="11475">
            <a:solidFill>
              <a:srgbClr val="EEEEEE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282" name="Google Shape;282;p38"/>
          <p:cNvSpPr txBox="1"/>
          <p:nvPr/>
        </p:nvSpPr>
        <p:spPr>
          <a:xfrm>
            <a:off x="1526893" y="5650639"/>
            <a:ext cx="14178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>
                <a:solidFill>
                  <a:srgbClr val="595959"/>
                </a:solidFill>
              </a:rPr>
              <a:t>Source Control</a:t>
            </a:r>
            <a:endParaRPr sz="1176">
              <a:solidFill>
                <a:srgbClr val="595959"/>
              </a:solidFill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4330609" y="5650669"/>
            <a:ext cx="13284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>
                <a:solidFill>
                  <a:srgbClr val="595959"/>
                </a:solidFill>
              </a:rPr>
              <a:t>Artifact Registry</a:t>
            </a:r>
            <a:endParaRPr sz="1176">
              <a:solidFill>
                <a:srgbClr val="595959"/>
              </a:solidFill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6620233" y="5276680"/>
            <a:ext cx="11976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6">
                <a:solidFill>
                  <a:srgbClr val="595959"/>
                </a:solidFill>
              </a:rPr>
              <a:t>Data Store</a:t>
            </a:r>
            <a:endParaRPr b="1" sz="1176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>
                <a:solidFill>
                  <a:srgbClr val="595959"/>
                </a:solidFill>
              </a:rPr>
              <a:t>GCP Bucket</a:t>
            </a:r>
            <a:endParaRPr sz="1176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>
                <a:solidFill>
                  <a:srgbClr val="595959"/>
                </a:solidFill>
              </a:rPr>
              <a:t>Postgres</a:t>
            </a:r>
            <a:endParaRPr sz="1176">
              <a:solidFill>
                <a:srgbClr val="595959"/>
              </a:solidFill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8968420" y="5406747"/>
            <a:ext cx="1655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6">
                <a:solidFill>
                  <a:srgbClr val="595959"/>
                </a:solidFill>
              </a:rPr>
              <a:t>Knowledge Base</a:t>
            </a:r>
            <a:endParaRPr b="1" sz="1176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>
                <a:solidFill>
                  <a:srgbClr val="595959"/>
                </a:solidFill>
              </a:rPr>
              <a:t>ChromaDB</a:t>
            </a:r>
            <a:endParaRPr sz="1176">
              <a:solidFill>
                <a:srgbClr val="595959"/>
              </a:solidFill>
            </a:endParaRPr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46" y="1051938"/>
            <a:ext cx="720541" cy="46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/>
          <p:nvPr/>
        </p:nvSpPr>
        <p:spPr>
          <a:xfrm>
            <a:off x="2021486" y="1094757"/>
            <a:ext cx="1542600" cy="37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9"/>
              <a:t>Develop App</a:t>
            </a:r>
            <a:endParaRPr sz="1719"/>
          </a:p>
        </p:txBody>
      </p:sp>
      <p:sp>
        <p:nvSpPr>
          <p:cNvPr id="288" name="Google Shape;288;p38"/>
          <p:cNvSpPr/>
          <p:nvPr/>
        </p:nvSpPr>
        <p:spPr>
          <a:xfrm>
            <a:off x="3795693" y="1094757"/>
            <a:ext cx="2692500" cy="37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9"/>
              <a:t>AI/ML Tasks</a:t>
            </a:r>
            <a:endParaRPr sz="1719"/>
          </a:p>
        </p:txBody>
      </p:sp>
      <p:sp>
        <p:nvSpPr>
          <p:cNvPr id="289" name="Google Shape;289;p38"/>
          <p:cNvSpPr/>
          <p:nvPr/>
        </p:nvSpPr>
        <p:spPr>
          <a:xfrm>
            <a:off x="7038819" y="1094757"/>
            <a:ext cx="2692500" cy="37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9"/>
              <a:t>Chat Bot</a:t>
            </a:r>
            <a:endParaRPr sz="1719"/>
          </a:p>
        </p:txBody>
      </p:sp>
      <p:sp>
        <p:nvSpPr>
          <p:cNvPr id="290" name="Google Shape;290;p38"/>
          <p:cNvSpPr/>
          <p:nvPr/>
        </p:nvSpPr>
        <p:spPr>
          <a:xfrm>
            <a:off x="3255054" y="2482697"/>
            <a:ext cx="10251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/>
              <a:t>Notebooks</a:t>
            </a:r>
            <a:endParaRPr sz="1176"/>
          </a:p>
        </p:txBody>
      </p:sp>
      <p:sp>
        <p:nvSpPr>
          <p:cNvPr id="291" name="Google Shape;291;p38"/>
          <p:cNvSpPr/>
          <p:nvPr/>
        </p:nvSpPr>
        <p:spPr>
          <a:xfrm>
            <a:off x="8570986" y="2674882"/>
            <a:ext cx="11976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/>
              <a:t>StockBusters</a:t>
            </a:r>
            <a:endParaRPr sz="1176"/>
          </a:p>
        </p:txBody>
      </p:sp>
      <p:sp>
        <p:nvSpPr>
          <p:cNvPr id="292" name="Google Shape;292;p38"/>
          <p:cNvSpPr txBox="1"/>
          <p:nvPr/>
        </p:nvSpPr>
        <p:spPr>
          <a:xfrm>
            <a:off x="2978811" y="2137477"/>
            <a:ext cx="1655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rgbClr val="595959"/>
                </a:solidFill>
              </a:rPr>
              <a:t>Interactive Notebooks</a:t>
            </a:r>
            <a:endParaRPr sz="1085">
              <a:solidFill>
                <a:srgbClr val="595959"/>
              </a:solidFill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3622050" y="1742762"/>
            <a:ext cx="123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">
                <a:solidFill>
                  <a:srgbClr val="6B7280"/>
                </a:solidFill>
              </a:rPr>
              <a:t>Human Interactions</a:t>
            </a:r>
            <a:endParaRPr sz="1719"/>
          </a:p>
        </p:txBody>
      </p:sp>
      <p:sp>
        <p:nvSpPr>
          <p:cNvPr id="294" name="Google Shape;294;p38"/>
          <p:cNvSpPr txBox="1"/>
          <p:nvPr/>
        </p:nvSpPr>
        <p:spPr>
          <a:xfrm>
            <a:off x="5477058" y="1765262"/>
            <a:ext cx="1601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">
                <a:solidFill>
                  <a:srgbClr val="6B7280"/>
                </a:solidFill>
              </a:rPr>
              <a:t>CLI + Automation</a:t>
            </a:r>
            <a:endParaRPr sz="1719"/>
          </a:p>
        </p:txBody>
      </p:sp>
      <p:sp>
        <p:nvSpPr>
          <p:cNvPr id="295" name="Google Shape;295;p38"/>
          <p:cNvSpPr txBox="1"/>
          <p:nvPr/>
        </p:nvSpPr>
        <p:spPr>
          <a:xfrm>
            <a:off x="8799544" y="1765262"/>
            <a:ext cx="123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">
                <a:solidFill>
                  <a:srgbClr val="6B7280"/>
                </a:solidFill>
              </a:rPr>
              <a:t>Human Interactions</a:t>
            </a:r>
            <a:endParaRPr sz="1719"/>
          </a:p>
        </p:txBody>
      </p:sp>
      <p:sp>
        <p:nvSpPr>
          <p:cNvPr id="296" name="Google Shape;296;p38"/>
          <p:cNvSpPr txBox="1"/>
          <p:nvPr/>
        </p:nvSpPr>
        <p:spPr>
          <a:xfrm>
            <a:off x="8062898" y="2182477"/>
            <a:ext cx="11976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rgbClr val="595959"/>
                </a:solidFill>
              </a:rPr>
              <a:t>Frontend (NGINX)</a:t>
            </a:r>
            <a:endParaRPr sz="1085">
              <a:solidFill>
                <a:srgbClr val="595959"/>
              </a:solidFill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4767345" y="2182477"/>
            <a:ext cx="1079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rgbClr val="374151"/>
                </a:solidFill>
              </a:rPr>
              <a:t>ML Pipeline</a:t>
            </a:r>
            <a:endParaRPr sz="1085"/>
          </a:p>
        </p:txBody>
      </p:sp>
      <p:sp>
        <p:nvSpPr>
          <p:cNvPr id="298" name="Google Shape;298;p38"/>
          <p:cNvSpPr/>
          <p:nvPr/>
        </p:nvSpPr>
        <p:spPr>
          <a:xfrm>
            <a:off x="4820910" y="2530170"/>
            <a:ext cx="10251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/>
              <a:t>Data Collector</a:t>
            </a:r>
            <a:endParaRPr sz="995"/>
          </a:p>
        </p:txBody>
      </p:sp>
      <p:sp>
        <p:nvSpPr>
          <p:cNvPr id="299" name="Google Shape;299;p38"/>
          <p:cNvSpPr/>
          <p:nvPr/>
        </p:nvSpPr>
        <p:spPr>
          <a:xfrm>
            <a:off x="4820759" y="2876175"/>
            <a:ext cx="10251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/>
              <a:t>Model Training</a:t>
            </a:r>
            <a:endParaRPr sz="995"/>
          </a:p>
        </p:txBody>
      </p:sp>
      <p:sp>
        <p:nvSpPr>
          <p:cNvPr id="300" name="Google Shape;300;p38"/>
          <p:cNvSpPr/>
          <p:nvPr/>
        </p:nvSpPr>
        <p:spPr>
          <a:xfrm>
            <a:off x="5979687" y="2518360"/>
            <a:ext cx="10251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/>
              <a:t>Data Processor</a:t>
            </a:r>
            <a:endParaRPr sz="995"/>
          </a:p>
        </p:txBody>
      </p:sp>
      <p:sp>
        <p:nvSpPr>
          <p:cNvPr id="301" name="Google Shape;301;p38"/>
          <p:cNvSpPr/>
          <p:nvPr/>
        </p:nvSpPr>
        <p:spPr>
          <a:xfrm>
            <a:off x="5979687" y="2866162"/>
            <a:ext cx="10251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/>
              <a:t>Model Deploy</a:t>
            </a:r>
            <a:endParaRPr sz="995"/>
          </a:p>
        </p:txBody>
      </p:sp>
      <p:sp>
        <p:nvSpPr>
          <p:cNvPr id="302" name="Google Shape;302;p38"/>
          <p:cNvSpPr txBox="1"/>
          <p:nvPr/>
        </p:nvSpPr>
        <p:spPr>
          <a:xfrm>
            <a:off x="4114168" y="3948731"/>
            <a:ext cx="2298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rgbClr val="374151"/>
                </a:solidFill>
              </a:rPr>
              <a:t>LLM (as a Service) / Agents</a:t>
            </a:r>
            <a:endParaRPr sz="1085"/>
          </a:p>
        </p:txBody>
      </p:sp>
      <p:sp>
        <p:nvSpPr>
          <p:cNvPr id="303" name="Google Shape;303;p38"/>
          <p:cNvSpPr txBox="1"/>
          <p:nvPr/>
        </p:nvSpPr>
        <p:spPr>
          <a:xfrm>
            <a:off x="8056202" y="3785117"/>
            <a:ext cx="963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5">
                <a:solidFill>
                  <a:srgbClr val="374151"/>
                </a:solidFill>
              </a:rPr>
              <a:t>Backend</a:t>
            </a:r>
            <a:endParaRPr sz="1085"/>
          </a:p>
        </p:txBody>
      </p:sp>
      <p:sp>
        <p:nvSpPr>
          <p:cNvPr id="304" name="Google Shape;304;p38"/>
          <p:cNvSpPr/>
          <p:nvPr/>
        </p:nvSpPr>
        <p:spPr>
          <a:xfrm>
            <a:off x="8799544" y="4306974"/>
            <a:ext cx="1025100" cy="29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/>
              <a:t>API Service</a:t>
            </a:r>
            <a:endParaRPr sz="995"/>
          </a:p>
        </p:txBody>
      </p:sp>
      <p:sp>
        <p:nvSpPr>
          <p:cNvPr id="305" name="Google Shape;305;p38"/>
          <p:cNvSpPr txBox="1"/>
          <p:nvPr/>
        </p:nvSpPr>
        <p:spPr>
          <a:xfrm>
            <a:off x="66375" y="854031"/>
            <a:ext cx="11412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8">
                <a:solidFill>
                  <a:srgbClr val="BE123C"/>
                </a:solidFill>
                <a:highlight>
                  <a:srgbClr val="FFFFFF"/>
                </a:highlight>
              </a:rPr>
              <a:t>Process</a:t>
            </a:r>
            <a:endParaRPr sz="1719"/>
          </a:p>
        </p:txBody>
      </p:sp>
      <p:sp>
        <p:nvSpPr>
          <p:cNvPr id="306" name="Google Shape;306;p38"/>
          <p:cNvSpPr txBox="1"/>
          <p:nvPr/>
        </p:nvSpPr>
        <p:spPr>
          <a:xfrm>
            <a:off x="212112" y="1763452"/>
            <a:ext cx="11412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8">
                <a:solidFill>
                  <a:srgbClr val="374151"/>
                </a:solidFill>
                <a:highlight>
                  <a:srgbClr val="FFFFFF"/>
                </a:highlight>
              </a:rPr>
              <a:t>Execution</a:t>
            </a:r>
            <a:endParaRPr sz="1719"/>
          </a:p>
        </p:txBody>
      </p:sp>
      <p:sp>
        <p:nvSpPr>
          <p:cNvPr id="307" name="Google Shape;307;p38"/>
          <p:cNvSpPr txBox="1"/>
          <p:nvPr/>
        </p:nvSpPr>
        <p:spPr>
          <a:xfrm>
            <a:off x="258077" y="4747382"/>
            <a:ext cx="7578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8">
                <a:solidFill>
                  <a:srgbClr val="334155"/>
                </a:solidFill>
                <a:highlight>
                  <a:srgbClr val="FFFFFF"/>
                </a:highlight>
              </a:rPr>
              <a:t>State</a:t>
            </a:r>
            <a:endParaRPr sz="1719"/>
          </a:p>
        </p:txBody>
      </p:sp>
      <p:sp>
        <p:nvSpPr>
          <p:cNvPr id="308" name="Google Shape;308;p38"/>
          <p:cNvSpPr/>
          <p:nvPr/>
        </p:nvSpPr>
        <p:spPr>
          <a:xfrm>
            <a:off x="2100537" y="1779429"/>
            <a:ext cx="270600" cy="33798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09" name="Google Shape;309;p38"/>
          <p:cNvSpPr/>
          <p:nvPr/>
        </p:nvSpPr>
        <p:spPr>
          <a:xfrm>
            <a:off x="3388794" y="3143536"/>
            <a:ext cx="270600" cy="20064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>
              <a:solidFill>
                <a:srgbClr val="FF0000"/>
              </a:solidFill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6071805" y="3477937"/>
            <a:ext cx="270600" cy="3900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11" name="Google Shape;311;p38"/>
          <p:cNvSpPr txBox="1"/>
          <p:nvPr/>
        </p:nvSpPr>
        <p:spPr>
          <a:xfrm>
            <a:off x="4970183" y="3528306"/>
            <a:ext cx="1079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7"/>
              <a:buFont typeface="Arial"/>
              <a:buNone/>
            </a:pPr>
            <a:r>
              <a:rPr lang="en-US" sz="904">
                <a:solidFill>
                  <a:srgbClr val="6B7280"/>
                </a:solidFill>
              </a:rPr>
              <a:t>HTTP / HTTPS</a:t>
            </a:r>
            <a:endParaRPr sz="2171">
              <a:solidFill>
                <a:srgbClr val="595959"/>
              </a:solidFill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9016883" y="3291098"/>
            <a:ext cx="1079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">
                <a:solidFill>
                  <a:srgbClr val="6B7280"/>
                </a:solidFill>
              </a:rPr>
              <a:t>HTTP / HTTPS</a:t>
            </a:r>
            <a:endParaRPr sz="2171">
              <a:solidFill>
                <a:srgbClr val="595959"/>
              </a:solidFill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8648378" y="3221637"/>
            <a:ext cx="270600" cy="3900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14" name="Google Shape;314;p38"/>
          <p:cNvSpPr txBox="1"/>
          <p:nvPr/>
        </p:nvSpPr>
        <p:spPr>
          <a:xfrm>
            <a:off x="4464673" y="4857620"/>
            <a:ext cx="1791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4">
                <a:solidFill>
                  <a:srgbClr val="595959"/>
                </a:solidFill>
              </a:rPr>
              <a:t>Protocol specific</a:t>
            </a:r>
            <a:endParaRPr sz="904">
              <a:solidFill>
                <a:srgbClr val="595959"/>
              </a:solidFill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5801451" y="4858875"/>
            <a:ext cx="270600" cy="3618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16" name="Google Shape;316;p38"/>
          <p:cNvSpPr/>
          <p:nvPr/>
        </p:nvSpPr>
        <p:spPr>
          <a:xfrm>
            <a:off x="6996426" y="4096307"/>
            <a:ext cx="945600" cy="222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17" name="Google Shape;317;p38"/>
          <p:cNvSpPr txBox="1"/>
          <p:nvPr/>
        </p:nvSpPr>
        <p:spPr>
          <a:xfrm>
            <a:off x="7193188" y="3832883"/>
            <a:ext cx="603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7"/>
              <a:buFont typeface="Arial"/>
              <a:buNone/>
            </a:pPr>
            <a:r>
              <a:rPr lang="en-US" sz="904">
                <a:solidFill>
                  <a:srgbClr val="6B7280"/>
                </a:solidFill>
              </a:rPr>
              <a:t>HTTPS</a:t>
            </a:r>
            <a:endParaRPr sz="2171">
              <a:solidFill>
                <a:srgbClr val="595959"/>
              </a:solidFill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3425899" y="1742762"/>
            <a:ext cx="196500" cy="36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19" name="Google Shape;319;p38"/>
          <p:cNvSpPr/>
          <p:nvPr/>
        </p:nvSpPr>
        <p:spPr>
          <a:xfrm>
            <a:off x="5296696" y="1734061"/>
            <a:ext cx="196500" cy="36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20" name="Google Shape;320;p38"/>
          <p:cNvSpPr/>
          <p:nvPr/>
        </p:nvSpPr>
        <p:spPr>
          <a:xfrm>
            <a:off x="8623451" y="1765262"/>
            <a:ext cx="196500" cy="36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21" name="Google Shape;321;p38"/>
          <p:cNvSpPr/>
          <p:nvPr/>
        </p:nvSpPr>
        <p:spPr>
          <a:xfrm>
            <a:off x="6663867" y="3291104"/>
            <a:ext cx="270600" cy="19200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9"/>
          </a:p>
        </p:txBody>
      </p:sp>
      <p:sp>
        <p:nvSpPr>
          <p:cNvPr id="322" name="Google Shape;322;p38"/>
          <p:cNvSpPr/>
          <p:nvPr/>
        </p:nvSpPr>
        <p:spPr>
          <a:xfrm>
            <a:off x="5296697" y="4392249"/>
            <a:ext cx="1141200" cy="222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114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300" lIns="110300" spcFirstLastPara="1" rIns="110300" wrap="square" tIns="11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6"/>
              <a:t>Gemini</a:t>
            </a:r>
            <a:endParaRPr sz="1719"/>
          </a:p>
        </p:txBody>
      </p:sp>
      <p:sp>
        <p:nvSpPr>
          <p:cNvPr id="323" name="Google Shape;323;p38"/>
          <p:cNvSpPr txBox="1"/>
          <p:nvPr>
            <p:ph type="title"/>
          </p:nvPr>
        </p:nvSpPr>
        <p:spPr>
          <a:xfrm>
            <a:off x="890512" y="434450"/>
            <a:ext cx="10849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100" lIns="88100" spcFirstLastPara="1" rIns="88100" wrap="square" tIns="8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"/>
              <a:buNone/>
            </a:pPr>
            <a:r>
              <a:rPr lang="en-US" sz="2119"/>
              <a:t>Technical Architecture and Key Components</a:t>
            </a:r>
            <a:endParaRPr sz="2119"/>
          </a:p>
        </p:txBody>
      </p:sp>
      <p:sp>
        <p:nvSpPr>
          <p:cNvPr id="324" name="Google Shape;324;p38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/>
          <p:nvPr>
            <p:ph type="title"/>
          </p:nvPr>
        </p:nvSpPr>
        <p:spPr>
          <a:xfrm>
            <a:off x="466050" y="127125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Quantamental Model Pipeline</a:t>
            </a:r>
            <a:endParaRPr/>
          </a:p>
        </p:txBody>
      </p:sp>
      <p:pic>
        <p:nvPicPr>
          <p:cNvPr id="330" name="Google Shape;33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725" y="770013"/>
            <a:ext cx="5894574" cy="53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title"/>
          </p:nvPr>
        </p:nvSpPr>
        <p:spPr>
          <a:xfrm>
            <a:off x="612850" y="241310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700">
                <a:highlight>
                  <a:srgbClr val="FFFFFF"/>
                </a:highlight>
              </a:rPr>
              <a:t>Live Demo of the Application</a:t>
            </a:r>
            <a:endParaRPr sz="3400"/>
          </a:p>
        </p:txBody>
      </p:sp>
      <p:sp>
        <p:nvSpPr>
          <p:cNvPr id="337" name="Google Shape;337;p40"/>
          <p:cNvSpPr txBox="1"/>
          <p:nvPr/>
        </p:nvSpPr>
        <p:spPr>
          <a:xfrm>
            <a:off x="4862950" y="32289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</a:rPr>
              <a:t>http://34.60.47.248.sslip.io/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>
            <p:ph type="title"/>
          </p:nvPr>
        </p:nvSpPr>
        <p:spPr>
          <a:xfrm>
            <a:off x="417800" y="503550"/>
            <a:ext cx="112599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/>
              <a:t>Challenges Faced &amp; Solutions Implemented</a:t>
            </a:r>
            <a:endParaRPr/>
          </a:p>
        </p:txBody>
      </p:sp>
      <p:sp>
        <p:nvSpPr>
          <p:cNvPr id="344" name="Google Shape;344;p41"/>
          <p:cNvSpPr txBox="1"/>
          <p:nvPr>
            <p:ph idx="1" type="body"/>
          </p:nvPr>
        </p:nvSpPr>
        <p:spPr>
          <a:xfrm>
            <a:off x="519600" y="3603525"/>
            <a:ext cx="11152800" cy="23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Inconsistent response by chatbot while collecting user preference: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Solved by making the system </a:t>
            </a:r>
            <a:r>
              <a:rPr lang="en-US" sz="1400"/>
              <a:t>prompts more robust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Delayed response in generating the recommendations: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Recommendation reasoning was taking a lot of time, while generating the report. The reason LLM was integrated at the final output of the model and stored reasoning to make it consistent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Model response was inconsistent based upon user preference, while using Agents equipped with RAG: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Modified the approach, instead of using system prompts, python queries were created to make the results consistent and repeatable.</a:t>
            </a:r>
            <a:endParaRPr sz="1400"/>
          </a:p>
        </p:txBody>
      </p:sp>
      <p:sp>
        <p:nvSpPr>
          <p:cNvPr id="345" name="Google Shape;345;p41"/>
          <p:cNvSpPr txBox="1"/>
          <p:nvPr/>
        </p:nvSpPr>
        <p:spPr>
          <a:xfrm>
            <a:off x="3511125" y="6504000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F8C8D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/>
          </a:p>
        </p:txBody>
      </p:sp>
      <p:pic>
        <p:nvPicPr>
          <p:cNvPr id="346" name="Google Shape;3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551" y="1298850"/>
            <a:ext cx="6164993" cy="2152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type="title"/>
          </p:nvPr>
        </p:nvSpPr>
        <p:spPr>
          <a:xfrm>
            <a:off x="2588575" y="5414775"/>
            <a:ext cx="7011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52" name="Google Shape;352;p42"/>
          <p:cNvSpPr txBox="1"/>
          <p:nvPr/>
        </p:nvSpPr>
        <p:spPr>
          <a:xfrm>
            <a:off x="3541925" y="5884275"/>
            <a:ext cx="540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Team Stock Busters | Harvard CSCI-E 115 / AC215 | December 2025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5-HES-0637_HES_PPTTemplate_SS">
  <a:themeElements>
    <a:clrScheme name="Harvard">
      <a:dk1>
        <a:srgbClr val="000000"/>
      </a:dk1>
      <a:lt1>
        <a:srgbClr val="FFFFFF"/>
      </a:lt1>
      <a:dk2>
        <a:srgbClr val="9D162D"/>
      </a:dk2>
      <a:lt2>
        <a:srgbClr val="F5F4F1"/>
      </a:lt2>
      <a:accent1>
        <a:srgbClr val="A51C30"/>
      </a:accent1>
      <a:accent2>
        <a:srgbClr val="C4961A"/>
      </a:accent2>
      <a:accent3>
        <a:srgbClr val="000000"/>
      </a:accent3>
      <a:accent4>
        <a:srgbClr val="B2B1AF"/>
      </a:accent4>
      <a:accent5>
        <a:srgbClr val="F5F4F1"/>
      </a:accent5>
      <a:accent6>
        <a:srgbClr val="29335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